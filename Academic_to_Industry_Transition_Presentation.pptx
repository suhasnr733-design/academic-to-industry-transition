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2542"/>
                </a:solidFill>
              </a:defRPr>
            </a:pPr>
            <a:r>
              <a:t>CANARA ENGINEERING COLLEGE</a:t>
            </a:r>
          </a:p>
          <a:p>
            <a:pPr algn="ctr">
              <a:defRPr sz="1600">
                <a:solidFill>
                  <a:srgbClr val="6C757D"/>
                </a:solidFill>
              </a:defRPr>
            </a:pPr>
            <a:r>
              <a:t>Department of Computer Science &amp; Engineering | Project Phase-II Review-1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2011680"/>
            <a:ext cx="9448495" cy="1645920"/>
          </a:xfrm>
          <a:prstGeom prst="roundRect">
            <a:avLst/>
          </a:prstGeom>
          <a:solidFill>
            <a:srgbClr val="10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C107"/>
                </a:solidFill>
              </a:defRPr>
            </a:pPr>
            <a:r>
              <a:t>Intelligent Academic-to-Industry Transition Support System Using Machine Learning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Team Id: CEC/CSE/2026-2027/P-36  |  Evaluation Date: 02-09-2026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3931920"/>
            <a:ext cx="4572000" cy="2011680"/>
          </a:xfrm>
          <a:prstGeom prst="roundRect">
            <a:avLst/>
          </a:prstGeom>
          <a:solidFill>
            <a:srgbClr val="FEFCE8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2542"/>
                </a:solidFill>
              </a:defRPr>
            </a:pPr>
            <a:r>
              <a:t>Project Team Members: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t>• Shivaraj - 4CB23CS141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t>• Sridharshan - 4CB23CS160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t>• Suhas N R - 4CB23CS161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t>• Vishwas H Acharya - 4CB23CS187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8095" y="3931920"/>
            <a:ext cx="4572000" cy="2011680"/>
          </a:xfrm>
          <a:prstGeom prst="roundRect">
            <a:avLst/>
          </a:prstGeom>
          <a:solidFill>
            <a:srgbClr val="FEFCE8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2542"/>
                </a:solidFill>
              </a:defRPr>
            </a:pPr>
            <a:r>
              <a:t>Project Leadership: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t>• Project Guide: Ms. Sushma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t>• Project Mentor: Mr. Gopalakrishna Pachanadi Rao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t>• Project Co-Ordinator: Dr. Vinay 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0" y="365760"/>
            <a:ext cx="4876495" cy="73152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102542"/>
                </a:solidFill>
              </a:defRPr>
            </a:pPr>
            <a:r>
              <a:t>Table of 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371600"/>
            <a:ext cx="4754880" cy="777240"/>
          </a:xfrm>
          <a:prstGeom prst="roundRect">
            <a:avLst/>
          </a:prstGeom>
          <a:solidFill>
            <a:srgbClr val="FEFCE8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2542"/>
                </a:solidFill>
              </a:defRPr>
            </a:pPr>
            <a:r>
              <a:t>  1.  Abstract</a:t>
            </a:r>
          </a:p>
        </p:txBody>
      </p:sp>
      <p:sp>
        <p:nvSpPr>
          <p:cNvPr id="5" name="Oval 4"/>
          <p:cNvSpPr/>
          <p:nvPr/>
        </p:nvSpPr>
        <p:spPr>
          <a:xfrm>
            <a:off x="5029200" y="1508760"/>
            <a:ext cx="548640" cy="50292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2542"/>
                </a:solidFill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286000"/>
            <a:ext cx="4754880" cy="777240"/>
          </a:xfrm>
          <a:prstGeom prst="roundRect">
            <a:avLst/>
          </a:prstGeom>
          <a:solidFill>
            <a:srgbClr val="FEFCE8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2542"/>
                </a:solidFill>
              </a:defRPr>
            </a:pPr>
            <a:r>
              <a:t>  2.  Problem Statement</a:t>
            </a:r>
          </a:p>
        </p:txBody>
      </p:sp>
      <p:sp>
        <p:nvSpPr>
          <p:cNvPr id="7" name="Oval 6"/>
          <p:cNvSpPr/>
          <p:nvPr/>
        </p:nvSpPr>
        <p:spPr>
          <a:xfrm>
            <a:off x="5029200" y="2423160"/>
            <a:ext cx="548640" cy="50292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2542"/>
                </a:solidFill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3200400"/>
            <a:ext cx="4754880" cy="777240"/>
          </a:xfrm>
          <a:prstGeom prst="roundRect">
            <a:avLst/>
          </a:prstGeom>
          <a:solidFill>
            <a:srgbClr val="FEFCE8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2542"/>
                </a:solidFill>
              </a:defRPr>
            </a:pPr>
            <a:r>
              <a:t>  3.  Objectives</a:t>
            </a:r>
          </a:p>
        </p:txBody>
      </p:sp>
      <p:sp>
        <p:nvSpPr>
          <p:cNvPr id="9" name="Oval 8"/>
          <p:cNvSpPr/>
          <p:nvPr/>
        </p:nvSpPr>
        <p:spPr>
          <a:xfrm>
            <a:off x="5029200" y="3337560"/>
            <a:ext cx="548640" cy="50292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2542"/>
                </a:solidFill>
              </a:defRPr>
            </a:pPr>
            <a: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4114800"/>
            <a:ext cx="4754880" cy="777240"/>
          </a:xfrm>
          <a:prstGeom prst="roundRect">
            <a:avLst/>
          </a:prstGeom>
          <a:solidFill>
            <a:srgbClr val="FEFCE8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2542"/>
                </a:solidFill>
              </a:defRPr>
            </a:pPr>
            <a:r>
              <a:t>  4.  Gaps Identified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0" y="4251960"/>
            <a:ext cx="548640" cy="50292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2542"/>
                </a:solidFill>
              </a:defRPr>
            </a:pPr>
            <a:r>
              <a:t>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5029200"/>
            <a:ext cx="4754880" cy="777240"/>
          </a:xfrm>
          <a:prstGeom prst="roundRect">
            <a:avLst/>
          </a:prstGeom>
          <a:solidFill>
            <a:srgbClr val="FEFCE8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2542"/>
                </a:solidFill>
              </a:defRPr>
            </a:pPr>
            <a:r>
              <a:t>  5.  Proposed Methodology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0" y="5166360"/>
            <a:ext cx="548640" cy="50292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2542"/>
                </a:solidFill>
              </a:defRPr>
            </a:pPr>
            <a:r>
              <a:t>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71600"/>
            <a:ext cx="4754880" cy="777240"/>
          </a:xfrm>
          <a:prstGeom prst="roundRect">
            <a:avLst/>
          </a:prstGeom>
          <a:solidFill>
            <a:srgbClr val="FEFCE8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2542"/>
                </a:solidFill>
              </a:defRPr>
            </a:pPr>
            <a:r>
              <a:t>  6.  Resources Required</a:t>
            </a:r>
          </a:p>
        </p:txBody>
      </p:sp>
      <p:sp>
        <p:nvSpPr>
          <p:cNvPr id="15" name="Oval 14"/>
          <p:cNvSpPr/>
          <p:nvPr/>
        </p:nvSpPr>
        <p:spPr>
          <a:xfrm>
            <a:off x="10149840" y="1508760"/>
            <a:ext cx="548640" cy="50292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2542"/>
                </a:solidFill>
              </a:defRPr>
            </a:pPr>
            <a:r>
              <a:t>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286000"/>
            <a:ext cx="4754880" cy="777240"/>
          </a:xfrm>
          <a:prstGeom prst="roundRect">
            <a:avLst/>
          </a:prstGeom>
          <a:solidFill>
            <a:srgbClr val="FEFCE8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2542"/>
                </a:solidFill>
              </a:defRPr>
            </a:pPr>
            <a:r>
              <a:t>  7.  Design Constraints</a:t>
            </a:r>
          </a:p>
        </p:txBody>
      </p:sp>
      <p:sp>
        <p:nvSpPr>
          <p:cNvPr id="17" name="Oval 16"/>
          <p:cNvSpPr/>
          <p:nvPr/>
        </p:nvSpPr>
        <p:spPr>
          <a:xfrm>
            <a:off x="10149840" y="2423160"/>
            <a:ext cx="548640" cy="50292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2542"/>
                </a:solidFill>
              </a:defRPr>
            </a:pPr>
            <a:r>
              <a:t>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200400"/>
            <a:ext cx="4754880" cy="777240"/>
          </a:xfrm>
          <a:prstGeom prst="roundRect">
            <a:avLst/>
          </a:prstGeom>
          <a:solidFill>
            <a:srgbClr val="FEFCE8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2542"/>
                </a:solidFill>
              </a:defRPr>
            </a:pPr>
            <a:r>
              <a:t>  8.  Implementation Status</a:t>
            </a:r>
          </a:p>
        </p:txBody>
      </p:sp>
      <p:sp>
        <p:nvSpPr>
          <p:cNvPr id="19" name="Oval 18"/>
          <p:cNvSpPr/>
          <p:nvPr/>
        </p:nvSpPr>
        <p:spPr>
          <a:xfrm>
            <a:off x="10149840" y="3337560"/>
            <a:ext cx="548640" cy="50292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2542"/>
                </a:solidFill>
              </a:defRPr>
            </a:pPr>
            <a:r>
              <a:t>10-11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114800"/>
            <a:ext cx="4754880" cy="777240"/>
          </a:xfrm>
          <a:prstGeom prst="roundRect">
            <a:avLst/>
          </a:prstGeom>
          <a:solidFill>
            <a:srgbClr val="FEFCE8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2542"/>
                </a:solidFill>
              </a:defRPr>
            </a:pPr>
            <a:r>
              <a:t>  9.  Bibliography (APA format)</a:t>
            </a:r>
          </a:p>
        </p:txBody>
      </p:sp>
      <p:sp>
        <p:nvSpPr>
          <p:cNvPr id="21" name="Oval 20"/>
          <p:cNvSpPr/>
          <p:nvPr/>
        </p:nvSpPr>
        <p:spPr>
          <a:xfrm>
            <a:off x="10149840" y="4251960"/>
            <a:ext cx="548640" cy="50292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2542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0" y="365760"/>
            <a:ext cx="4876495" cy="73152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102542"/>
                </a:solidFill>
              </a:defRPr>
            </a:pPr>
            <a:r>
              <a:t>Abstract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645920"/>
            <a:ext cx="9997135" cy="4389120"/>
          </a:xfrm>
          <a:prstGeom prst="roundRect">
            <a:avLst/>
          </a:prstGeom>
          <a:solidFill>
            <a:srgbClr val="FEFCE8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212529"/>
                </a:solidFill>
              </a:defRPr>
            </a:pPr>
            <a:r>
              <a:t>The rapid growth of technology and evolving industry demands have created a significant gap between academic learning and employer expectations. This project proposes an AI-Driven Employability Intelligence System to bridge that gap using data analysis and personalized support.</a:t>
            </a:r>
          </a:p>
          <a:p>
            <a:br/>
            <a:pPr>
              <a:defRPr sz="1800" b="1">
                <a:solidFill>
                  <a:srgbClr val="102542"/>
                </a:solidFill>
              </a:defRPr>
            </a:pPr>
            <a:r>
              <a:t>Core Pillars of the System:</a:t>
            </a:r>
          </a:p>
          <a:p>
            <a:pPr>
              <a:defRPr sz="1600">
                <a:solidFill>
                  <a:srgbClr val="212529"/>
                </a:solidFill>
              </a:defRPr>
            </a:pPr>
            <a:r>
              <a:t>• Real-Time Job Market Analyzer: Tracks current in-demand skills across active hiring platforms.</a:t>
            </a:r>
          </a:p>
          <a:p>
            <a:pPr>
              <a:defRPr sz="1600">
                <a:solidFill>
                  <a:srgbClr val="212529"/>
                </a:solidFill>
              </a:defRPr>
            </a:pPr>
            <a:r>
              <a:t>• Personalized Learning Path Generator: Delivers tailored skill roadmaps and YouTube recommendations.</a:t>
            </a:r>
          </a:p>
          <a:p>
            <a:pPr>
              <a:defRPr sz="1600">
                <a:solidFill>
                  <a:srgbClr val="212529"/>
                </a:solidFill>
              </a:defRPr>
            </a:pPr>
            <a:r>
              <a:t>• Mini Mock Assessment System: Evaluates core technical competencies and practical readiness.</a:t>
            </a:r>
          </a:p>
          <a:p>
            <a:pPr>
              <a:defRPr sz="1600">
                <a:solidFill>
                  <a:srgbClr val="212529"/>
                </a:solidFill>
              </a:defRPr>
            </a:pPr>
            <a:r>
              <a:t>• College-to-Industry Gap Report: Provides faculty with actionable metrics on curriculum alignment.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0" y="365760"/>
            <a:ext cx="4876495" cy="73152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102542"/>
                </a:solidFill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9448495" cy="4023360"/>
          </a:xfrm>
          <a:prstGeom prst="roundRect">
            <a:avLst/>
          </a:prstGeom>
          <a:solidFill>
            <a:srgbClr val="10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Students often struggle to transition from academic learning to industry due to a lack of practical skills and awareness of industry requirements.</a:t>
            </a:r>
            <a:br/>
            <a:br/>
            <a:r>
              <a:t>Existing systems provide only partial solutions such as career prediction or simple skill assessment, but do not offer a complete, personalized pathway for becoming industry-ready.</a:t>
            </a:r>
            <a:br/>
            <a:br/>
            <a:r>
              <a:t>Therefore, there is a strong need for an intelligent system that bridges this gap using machine learning, automated NLP parsing, live job market feeds, and actionable faculty dashboards.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0" y="365760"/>
            <a:ext cx="4876495" cy="73152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102542"/>
                </a:solidFill>
              </a:defRPr>
            </a:pPr>
            <a:r>
              <a:t>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463040"/>
            <a:ext cx="9997135" cy="1280160"/>
          </a:xfrm>
          <a:prstGeom prst="roundRect">
            <a:avLst/>
          </a:prstGeom>
          <a:solidFill>
            <a:srgbClr val="FEFCE8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2542"/>
                </a:solidFill>
              </a:defRPr>
            </a:pPr>
            <a:r>
              <a:t>1. Profile &amp; Resume Matching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r>
              <a:t>Develop a system that matches student resumes with real-time job requirements using NLP and suggests suitable career opportunities.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017520"/>
            <a:ext cx="9997135" cy="1280160"/>
          </a:xfrm>
          <a:prstGeom prst="roundRect">
            <a:avLst/>
          </a:prstGeom>
          <a:solidFill>
            <a:srgbClr val="FEFCE8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2542"/>
                </a:solidFill>
              </a:defRPr>
            </a:pPr>
            <a:r>
              <a:t>2. Skill Gap Identification &amp; Remediation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r>
              <a:t>Identify technical skill gaps when there is a mismatch and automatically recommend targeted learning paths, courses, and YouTube tutorials.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572000"/>
            <a:ext cx="9997135" cy="1280160"/>
          </a:xfrm>
          <a:prstGeom prst="roundRect">
            <a:avLst/>
          </a:prstGeom>
          <a:solidFill>
            <a:srgbClr val="FEFCE8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2542"/>
                </a:solidFill>
              </a:defRPr>
            </a:pPr>
            <a:r>
              <a:t>3. Faculty Progress Monitoring &amp; Drive Management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r>
              <a:t>Track student preparation progress and provide comprehensive performance and shortlisting reports to faculty for active monitoring and guidance.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0" y="365760"/>
            <a:ext cx="4876495" cy="73152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102542"/>
                </a:solidFill>
              </a:defRPr>
            </a:pPr>
            <a:r>
              <a:t>Gaps Identified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463040"/>
            <a:ext cx="9997135" cy="1280160"/>
          </a:xfrm>
          <a:prstGeom prst="roundRect">
            <a:avLst/>
          </a:prstGeom>
          <a:solidFill>
            <a:srgbClr val="FEFCE8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2542"/>
                </a:solidFill>
              </a:defRPr>
            </a:pPr>
            <a:r>
              <a:t>• Academic vs. Industry Skill Misalignment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r>
              <a:t>Academic grading emphasizes theoretical knowledge, creating a visibility gap for real-world industry toolchains (Docker, AWS, CI/CD, FastAPI) and practical competencies.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017520"/>
            <a:ext cx="9997135" cy="1280160"/>
          </a:xfrm>
          <a:prstGeom prst="roundRect">
            <a:avLst/>
          </a:prstGeom>
          <a:solidFill>
            <a:srgbClr val="FEFCE8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2542"/>
                </a:solidFill>
              </a:defRPr>
            </a:pPr>
            <a:r>
              <a:t>• Superficial ATS Matching Without Remediation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r>
              <a:t>Existing job portals offer simple keyword filtering without personalized gap identification or structured, step-by-step learning roadmaps.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572000"/>
            <a:ext cx="9997135" cy="1280160"/>
          </a:xfrm>
          <a:prstGeom prst="roundRect">
            <a:avLst/>
          </a:prstGeom>
          <a:solidFill>
            <a:srgbClr val="FEFCE8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2542"/>
                </a:solidFill>
              </a:defRPr>
            </a:pPr>
            <a:r>
              <a:t>• Lack of Predictive Readiness Analytics</a:t>
            </a:r>
          </a:p>
          <a:p>
            <a:pPr>
              <a:defRPr sz="1500">
                <a:solidFill>
                  <a:srgbClr val="212529"/>
                </a:solidFill>
              </a:defRPr>
            </a:pPr>
            <a:r>
              <a:t>Absence of holistic, ML-driven employability scoring to enable proactive student evaluation prior to institutional campus recruitment drives.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0" y="365760"/>
            <a:ext cx="4876495" cy="73152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102542"/>
                </a:solidFill>
              </a:defRPr>
            </a:pPr>
            <a:r>
              <a:t>Proposed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5029200" cy="1463040"/>
          </a:xfrm>
          <a:prstGeom prst="roundRect">
            <a:avLst/>
          </a:prstGeom>
          <a:solidFill>
            <a:srgbClr val="FEFCE8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2542"/>
                </a:solidFill>
              </a:defRPr>
            </a:pPr>
            <a:r>
              <a:t>1. Data Ingestion &amp; Parsing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PDF/DOCX/TXT Parser ➜ NLP Skill Extraction ➜ Confidence Check &amp; Transformer Fallback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029200" cy="1463040"/>
          </a:xfrm>
          <a:prstGeom prst="roundRect">
            <a:avLst/>
          </a:prstGeom>
          <a:solidFill>
            <a:srgbClr val="FEFCE8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2542"/>
                </a:solidFill>
              </a:defRPr>
            </a:pPr>
            <a:r>
              <a:t>2. Feature Engineering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Skill Diversity, Experience, CGPA Normalization ➜ Stratified 80% Train / 20% Test Split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017520"/>
            <a:ext cx="5029200" cy="1463040"/>
          </a:xfrm>
          <a:prstGeom prst="roundRect">
            <a:avLst/>
          </a:prstGeom>
          <a:solidFill>
            <a:srgbClr val="FEFCE8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2542"/>
                </a:solidFill>
              </a:defRPr>
            </a:pPr>
            <a:r>
              <a:t>3. ML Employability Predictor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Stacking Ensemble (Random Forest, Gradient Boosting, SVM) + Logistic Regression Meta-Learner (75.5% Acc, 0.80 F1)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017520"/>
            <a:ext cx="5029200" cy="1463040"/>
          </a:xfrm>
          <a:prstGeom prst="roundRect">
            <a:avLst/>
          </a:prstGeom>
          <a:solidFill>
            <a:srgbClr val="FEFCE8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2542"/>
                </a:solidFill>
              </a:defRPr>
            </a:pPr>
            <a:r>
              <a:t>4. Skill Gap &amp; Learning Hub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Skill Gap Identification ➜ Automated YouTube Curation &amp; Practice Module Roadmap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663440"/>
            <a:ext cx="5029200" cy="1463040"/>
          </a:xfrm>
          <a:prstGeom prst="roundRect">
            <a:avLst/>
          </a:prstGeom>
          <a:solidFill>
            <a:srgbClr val="FEFCE8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2542"/>
                </a:solidFill>
              </a:defRPr>
            </a:pPr>
            <a:r>
              <a:t>5. Multi-Source Job Aggregator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Live Aggregation (Remotive, Adzuna, Unstop, Internshala) ➜ Weighted Profile Fit Scoring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663440"/>
            <a:ext cx="5029200" cy="1463040"/>
          </a:xfrm>
          <a:prstGeom prst="roundRect">
            <a:avLst/>
          </a:prstGeom>
          <a:solidFill>
            <a:srgbClr val="FEFCE8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2542"/>
                </a:solidFill>
              </a:defRPr>
            </a:pPr>
            <a:r>
              <a:t>6. Campus Drive Management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Faculty Portal ➜ Automated CGPA &amp; Skill Shortlisting ➜ Nomination &amp; Status Tracking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0" y="365760"/>
            <a:ext cx="4876495" cy="73152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102542"/>
                </a:solidFill>
              </a:defRPr>
            </a:pPr>
            <a:r>
              <a:t>Resources Required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4937760" cy="4754880"/>
          </a:xfrm>
          <a:prstGeom prst="roundRect">
            <a:avLst/>
          </a:prstGeom>
          <a:solidFill>
            <a:srgbClr val="FEFCE8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2542"/>
                </a:solidFill>
              </a:defRPr>
            </a:pPr>
            <a:r>
              <a:t>Functional &amp; Non-Functional:</a:t>
            </a:r>
          </a:p>
          <a:p>
            <a:pPr>
              <a:defRPr sz="1300" b="1">
                <a:solidFill>
                  <a:srgbClr val="102542"/>
                </a:solidFill>
              </a:defRPr>
            </a:pPr>
            <a:r>
              <a:t>Functional: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• JWT Auth &amp; Role Access (Student, Faculty, Admin)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• NLP Resume Parser &amp; ML Stacking Predictor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• Skill Gap Analyzer &amp; YouTube Learning Path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• Job Aggregator &amp; Faculty Drive Manager</a:t>
            </a:r>
          </a:p>
          <a:p>
            <a:pPr>
              <a:defRPr sz="1300">
                <a:solidFill>
                  <a:srgbClr val="212529"/>
                </a:solidFill>
              </a:defRPr>
            </a:pPr>
          </a:p>
          <a:p>
            <a:pPr>
              <a:defRPr sz="1300" b="1">
                <a:solidFill>
                  <a:srgbClr val="102542"/>
                </a:solidFill>
              </a:defRPr>
            </a:pPr>
            <a:r>
              <a:t>Non-Functional: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• Security: Bcrypt hashing, HMAC SHA-256 JWT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• Reliability: Graceful offline NLP fallback &amp; API circuit breakers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4937760" cy="4754880"/>
          </a:xfrm>
          <a:prstGeom prst="roundRect">
            <a:avLst/>
          </a:prstGeom>
          <a:solidFill>
            <a:srgbClr val="FEFCE8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2542"/>
                </a:solidFill>
              </a:defRPr>
            </a:pPr>
            <a:r>
              <a:t>Hardware &amp; Software Stack:</a:t>
            </a:r>
          </a:p>
          <a:p>
            <a:pPr>
              <a:defRPr sz="1300" b="1">
                <a:solidFill>
                  <a:srgbClr val="102542"/>
                </a:solidFill>
              </a:defRPr>
            </a:pPr>
            <a:r>
              <a:t>Hardware Requirements: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• Server: 4-Core CPU, 8 GB RAM, 20 GB Storage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• Client: Standard PC/Laptop/Smartphone with Web Browser</a:t>
            </a:r>
          </a:p>
          <a:p>
            <a:pPr>
              <a:defRPr sz="1300">
                <a:solidFill>
                  <a:srgbClr val="212529"/>
                </a:solidFill>
              </a:defRPr>
            </a:pPr>
          </a:p>
          <a:p>
            <a:pPr>
              <a:defRPr sz="1300" b="1">
                <a:solidFill>
                  <a:srgbClr val="102542"/>
                </a:solidFill>
              </a:defRPr>
            </a:pPr>
            <a:r>
              <a:t>Software &amp; Tech Stack: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• Backend: Python 3.11, Flask, SQLAlchemy, Scikit-Learn, PyPDF2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• Frontend: React 18, Vite, Heroicons / React Icons, Tailwind CSS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• Database &amp; APIs: SQLite / PostgreSQL, YouTube Data API v3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0" y="365760"/>
            <a:ext cx="4876495" cy="73152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102542"/>
                </a:solidFill>
              </a:defRPr>
            </a:pPr>
            <a:r>
              <a:t>Design Constraints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371600"/>
            <a:ext cx="9997135" cy="868680"/>
          </a:xfrm>
          <a:prstGeom prst="roundRect">
            <a:avLst/>
          </a:prstGeom>
          <a:solidFill>
            <a:srgbClr val="FEFCE8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212529"/>
                </a:solidFill>
              </a:defRPr>
            </a:pPr>
            <a:r>
              <a:t>• Diverse Resume Formats: Handling varied multi-column layouts, tables, and fonts without parsing errors using regex and NLP fallback.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377440"/>
            <a:ext cx="9997135" cy="868680"/>
          </a:xfrm>
          <a:prstGeom prst="roundRect">
            <a:avLst/>
          </a:prstGeom>
          <a:solidFill>
            <a:srgbClr val="FEFCE8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212529"/>
                </a:solidFill>
              </a:defRPr>
            </a:pPr>
            <a:r>
              <a:t>• Resource Constraints: Deploying lightweight NLP keyword fallbacks for execution on environments without heavy GPU power.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383280"/>
            <a:ext cx="9997135" cy="868680"/>
          </a:xfrm>
          <a:prstGeom prst="roundRect">
            <a:avLst/>
          </a:prstGeom>
          <a:solidFill>
            <a:srgbClr val="FEFCE8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212529"/>
                </a:solidFill>
              </a:defRPr>
            </a:pPr>
            <a:r>
              <a:t>• External API Limits: Mitigating YouTube and job platform daily rate quotas using multi-level in-memory and database caching.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389120"/>
            <a:ext cx="9997135" cy="868680"/>
          </a:xfrm>
          <a:prstGeom prst="roundRect">
            <a:avLst/>
          </a:prstGeom>
          <a:solidFill>
            <a:srgbClr val="FEFCE8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212529"/>
                </a:solidFill>
              </a:defRPr>
            </a:pPr>
            <a:r>
              <a:t>• Latency vs. Data Freshness: Balancing real-time job scraping speed with cached background aggregation for sub-second responses.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5394960"/>
            <a:ext cx="9997135" cy="868680"/>
          </a:xfrm>
          <a:prstGeom prst="roundRect">
            <a:avLst/>
          </a:prstGeom>
          <a:solidFill>
            <a:srgbClr val="FEFCE8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212529"/>
                </a:solidFill>
              </a:defRPr>
            </a:pPr>
            <a:r>
              <a:t>• Data Privacy &amp; Security: Ensuring secure handling of student PII and academic performance records via strict Role-Based Access Control.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0" y="365760"/>
            <a:ext cx="4876495" cy="73152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102542"/>
                </a:solidFill>
              </a:defRPr>
            </a:pPr>
            <a:r>
              <a:t>Implementation Status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463040"/>
            <a:ext cx="9997135" cy="1051560"/>
          </a:xfrm>
          <a:prstGeom prst="roundRect">
            <a:avLst/>
          </a:prstGeom>
          <a:solidFill>
            <a:srgbClr val="FEFCE8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02542"/>
                </a:solidFill>
              </a:defRPr>
            </a:pPr>
            <a:r>
              <a:t>• User Authentication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t>Implemented secure JWT-based login, registration, and role separation for Students, Faculty, and Admin with password reset support.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651760"/>
            <a:ext cx="9997135" cy="1051560"/>
          </a:xfrm>
          <a:prstGeom prst="roundRect">
            <a:avLst/>
          </a:prstGeom>
          <a:solidFill>
            <a:srgbClr val="FEFCE8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02542"/>
                </a:solidFill>
              </a:defRPr>
            </a:pPr>
            <a:r>
              <a:t>• Resume Parser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t>Built multi-format parsing for PDF, DOCX, and TXT files to extract skills, education, and project details with an offline keyword fallback.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840480"/>
            <a:ext cx="9997135" cy="1051560"/>
          </a:xfrm>
          <a:prstGeom prst="roundRect">
            <a:avLst/>
          </a:prstGeom>
          <a:solidFill>
            <a:srgbClr val="FEFCE8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02542"/>
                </a:solidFill>
              </a:defRPr>
            </a:pPr>
            <a:r>
              <a:t>• ML Placement Predictor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t>Trained and deployed a Stacking Ensemble model (Random Forest, Gradient Boosting, SVM with Logistic Regression meta-learner) achieving 75.50% accuracy and 0.80 F1-score.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5029200"/>
            <a:ext cx="9997135" cy="1051560"/>
          </a:xfrm>
          <a:prstGeom prst="roundRect">
            <a:avLst/>
          </a:prstGeom>
          <a:solidFill>
            <a:srgbClr val="FEFCE8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02542"/>
                </a:solidFill>
              </a:defRPr>
            </a:pPr>
            <a:r>
              <a:t>• Skill Gap &amp; Learning Hub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t>Developed dynamic roadmaps with automated YouTube tutorial curation, resource bookmarking, and progress tracking.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0" y="365760"/>
            <a:ext cx="4876495" cy="73152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102542"/>
                </a:solidFill>
              </a:defRPr>
            </a:pPr>
            <a:r>
              <a:t>Implementation Status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463040"/>
            <a:ext cx="9997135" cy="1051560"/>
          </a:xfrm>
          <a:prstGeom prst="roundRect">
            <a:avLst/>
          </a:prstGeom>
          <a:solidFill>
            <a:srgbClr val="FEFCE8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02542"/>
                </a:solidFill>
              </a:defRPr>
            </a:pPr>
            <a:r>
              <a:t>• Job Aggregation Engine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t>Integrated live job feeds from multiple platforms (Remotive, Adzuna, Unstop, Internshala, JSearch) with automated profile-matching scores.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651760"/>
            <a:ext cx="9997135" cy="1051560"/>
          </a:xfrm>
          <a:prstGeom prst="roundRect">
            <a:avLst/>
          </a:prstGeom>
          <a:solidFill>
            <a:srgbClr val="FEFCE8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02542"/>
                </a:solidFill>
              </a:defRPr>
            </a:pPr>
            <a:r>
              <a:t>• Faculty Placement Module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t>Implemented campus drive creation, automated student shortlisting based on CGPA/skills thresholds, and nomination management.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840480"/>
            <a:ext cx="9997135" cy="1051560"/>
          </a:xfrm>
          <a:prstGeom prst="roundRect">
            <a:avLst/>
          </a:prstGeom>
          <a:solidFill>
            <a:srgbClr val="FEFCE8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02542"/>
                </a:solidFill>
              </a:defRPr>
            </a:pPr>
            <a:r>
              <a:t>• Frontend Dashboard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t>Built a fully responsive web interface using React 18 and Vite with interactive charts, roadmaps, and dark/light themes.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5029200"/>
            <a:ext cx="9997135" cy="1051560"/>
          </a:xfrm>
          <a:prstGeom prst="roundRect">
            <a:avLst/>
          </a:prstGeom>
          <a:solidFill>
            <a:srgbClr val="FEFCE8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02542"/>
                </a:solidFill>
              </a:defRPr>
            </a:pPr>
            <a:r>
              <a:t>• Testing &amp; Quality Assurance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t>Verified backend APIs, database models, and ML pipelines through 38 passing automated Pytest test cases (0 failures).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0" y="365760"/>
            <a:ext cx="4876495" cy="73152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102542"/>
                </a:solidFill>
              </a:defRPr>
            </a:pPr>
            <a:r>
              <a:t>Bibliography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362895" cy="4846320"/>
          </a:xfrm>
          <a:prstGeom prst="roundRect">
            <a:avLst/>
          </a:prstGeom>
          <a:solidFill>
            <a:srgbClr val="FEFCE8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212529"/>
                </a:solidFill>
              </a:defRPr>
            </a:pPr>
            <a:r>
              <a:t>• ElSharkawy, A. et al. (2022). Employability Prediction of IT Graduates Using Machine Learning Techniques. IEEE Access.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• Garje, T., Zanjad, S. S., More, M., Fate, G., &amp; Shendge, P. (2026). Career Prediction Application. IJARSCT.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• Haque, M. et al. (2024). Classification Techniques Using Machine Learning for Graduate Employability Prediction. IJCA.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• Kahlik, A. A., &amp; Saleh, A. Y. (2024). Predicting Post-Internship Employability Using Ensemble Machine Learning Approach. JCSHD.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• Kovalev, A., Stefanac, N., &amp; Rizoiu, M. A. (2025). Skill-Driven Certification Pathways: Measuring Industry Training Impact. arXiv.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• Mehta, R., Jain, S., &amp; Singh, K. (2023). AI-Powered Career Recommendation System Using Machine Learning. IJERT.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• Saidani, D. et al. (2022). Predicting Student Employability Through Internship Context Using Gradient Boosting. JEDM.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• Talekar, K., Tiwari, U., Vishwakarma, S., Gupta, H., &amp; Singh, D. (2025). CareerCraft AI: Review on Intelligent Advisory Systems. IJRTI.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• Vo, T. et al. (2023). OPT-BAG Model for Predicting Student Employability Using Ensemble Learning. Applied Sciences.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• Weerasuriya, J. (2026). Rapid Industry Skill Adoption Framework (RISAF): Technical Framework for IT Undergraduates. Technical Report.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0" y="1828800"/>
            <a:ext cx="8534095" cy="3200400"/>
          </a:xfrm>
          <a:prstGeom prst="roundRect">
            <a:avLst/>
          </a:prstGeom>
          <a:solidFill>
            <a:srgbClr val="102542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400" b="1">
                <a:solidFill>
                  <a:srgbClr val="FFC107"/>
                </a:solidFill>
              </a:defRPr>
            </a:pPr>
            <a:r>
              <a:t>THANK YOU!</a:t>
            </a:r>
          </a:p>
          <a:p>
            <a:br/>
            <a:pPr algn="ctr">
              <a:defRPr sz="2400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